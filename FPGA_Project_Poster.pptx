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6" r:id="rId2"/>
  </p:sldIdLst>
  <p:sldSz cx="21374100" cy="15113000"/>
  <p:notesSz cx="6858000" cy="9144000"/>
  <p:embeddedFontLst>
    <p:embeddedFont>
      <p:font typeface="ABeeZee" panose="020B0604020202020204" charset="0"/>
      <p:regular r:id="rId4"/>
    </p:embeddedFont>
    <p:embeddedFont>
      <p:font typeface="League Spartan" panose="020B0604020202020204" charset="0"/>
      <p:bold r:id="rId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1080" y="-197"/>
      </p:cViewPr>
      <p:guideLst>
        <p:guide orient="horz" pos="2144"/>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font" Target="fonts/font2.fntdata"/><Relationship Id="rId4" Type="http://schemas.openxmlformats.org/officeDocument/2006/relationships/font" Target="fonts/font1.fntdata"/><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4/15/2026</a:t>
            </a:fld>
            <a:endParaRPr lang="en-US"/>
          </a:p>
        </p:txBody>
      </p:sp>
      <p:sp>
        <p:nvSpPr>
          <p:cNvPr id="4" name="Slide Image Placeholder 3"/>
          <p:cNvSpPr>
            <a:spLocks noGrp="1" noRot="1" noChangeAspect="1"/>
          </p:cNvSpPr>
          <p:nvPr>
            <p:ph type="sldImg" idx="2"/>
          </p:nvPr>
        </p:nvSpPr>
        <p:spPr>
          <a:xfrm>
            <a:off x="1246686" y="1143000"/>
            <a:ext cx="4364627"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246188" y="1143000"/>
            <a:ext cx="4365625" cy="3086100"/>
          </a:xfrm>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341430" y="5750047"/>
            <a:ext cx="5822570" cy="0"/>
          </a:xfrm>
          <a:prstGeom prst="line">
            <a:avLst/>
          </a:prstGeom>
          <a:ln w="38100" cap="flat">
            <a:gradFill>
              <a:gsLst>
                <a:gs pos="0">
                  <a:srgbClr val="8C52FF">
                    <a:alpha val="100000"/>
                  </a:srgbClr>
                </a:gs>
                <a:gs pos="100000">
                  <a:srgbClr val="5CE1E6">
                    <a:alpha val="100000"/>
                  </a:srgbClr>
                </a:gs>
              </a:gsLst>
              <a:lin ang="0"/>
            </a:gradFill>
            <a:prstDash val="solid"/>
            <a:headEnd type="none" w="sm" len="sm"/>
            <a:tailEnd type="none" w="sm" len="sm"/>
          </a:ln>
        </p:spPr>
      </p:sp>
      <p:sp>
        <p:nvSpPr>
          <p:cNvPr id="3" name="AutoShape 3"/>
          <p:cNvSpPr/>
          <p:nvPr/>
        </p:nvSpPr>
        <p:spPr>
          <a:xfrm>
            <a:off x="14268324" y="10830478"/>
            <a:ext cx="5805501" cy="0"/>
          </a:xfrm>
          <a:prstGeom prst="line">
            <a:avLst/>
          </a:prstGeom>
          <a:ln w="38100" cap="flat">
            <a:gradFill>
              <a:gsLst>
                <a:gs pos="0">
                  <a:srgbClr val="8C52FF">
                    <a:alpha val="100000"/>
                  </a:srgbClr>
                </a:gs>
                <a:gs pos="100000">
                  <a:srgbClr val="5CE1E6">
                    <a:alpha val="100000"/>
                  </a:srgbClr>
                </a:gs>
              </a:gsLst>
              <a:lin ang="0"/>
            </a:gradFill>
            <a:prstDash val="solid"/>
            <a:headEnd type="none" w="sm" len="sm"/>
            <a:tailEnd type="none" w="sm" len="sm"/>
          </a:ln>
        </p:spPr>
      </p:sp>
      <p:sp>
        <p:nvSpPr>
          <p:cNvPr id="5" name="AutoShape 5"/>
          <p:cNvSpPr/>
          <p:nvPr/>
        </p:nvSpPr>
        <p:spPr>
          <a:xfrm flipV="1">
            <a:off x="7415645" y="3541562"/>
            <a:ext cx="0" cy="9745611"/>
          </a:xfrm>
          <a:prstGeom prst="line">
            <a:avLst/>
          </a:prstGeom>
          <a:ln w="38100" cap="flat">
            <a:gradFill>
              <a:gsLst>
                <a:gs pos="0">
                  <a:srgbClr val="8C52FF">
                    <a:alpha val="100000"/>
                  </a:srgbClr>
                </a:gs>
                <a:gs pos="100000">
                  <a:srgbClr val="5CE1E6">
                    <a:alpha val="100000"/>
                  </a:srgbClr>
                </a:gs>
              </a:gsLst>
              <a:lin ang="0"/>
            </a:gradFill>
            <a:prstDash val="solid"/>
            <a:headEnd type="none" w="sm" len="sm"/>
            <a:tailEnd type="none" w="sm" len="sm"/>
          </a:ln>
        </p:spPr>
      </p:sp>
      <p:sp>
        <p:nvSpPr>
          <p:cNvPr id="6" name="AutoShape 6"/>
          <p:cNvSpPr/>
          <p:nvPr/>
        </p:nvSpPr>
        <p:spPr>
          <a:xfrm flipV="1">
            <a:off x="13968604" y="3541562"/>
            <a:ext cx="0" cy="9745611"/>
          </a:xfrm>
          <a:prstGeom prst="line">
            <a:avLst/>
          </a:prstGeom>
          <a:ln w="38100" cap="flat">
            <a:gradFill>
              <a:gsLst>
                <a:gs pos="0">
                  <a:srgbClr val="8C52FF">
                    <a:alpha val="100000"/>
                  </a:srgbClr>
                </a:gs>
                <a:gs pos="100000">
                  <a:srgbClr val="5CE1E6">
                    <a:alpha val="100000"/>
                  </a:srgbClr>
                </a:gs>
              </a:gsLst>
              <a:lin ang="0"/>
            </a:gradFill>
            <a:prstDash val="solid"/>
            <a:headEnd type="none" w="sm" len="sm"/>
            <a:tailEnd type="none" w="sm" len="sm"/>
          </a:ln>
        </p:spPr>
      </p:sp>
      <p:sp>
        <p:nvSpPr>
          <p:cNvPr id="7" name="Freeform 7"/>
          <p:cNvSpPr/>
          <p:nvPr/>
        </p:nvSpPr>
        <p:spPr>
          <a:xfrm>
            <a:off x="2567454" y="7708106"/>
            <a:ext cx="3123761" cy="5337041"/>
          </a:xfrm>
          <a:custGeom>
            <a:avLst/>
            <a:gdLst/>
            <a:ahLst/>
            <a:cxnLst/>
            <a:rect l="l" t="t" r="r" b="b"/>
            <a:pathLst>
              <a:path w="3123761" h="5337041">
                <a:moveTo>
                  <a:pt x="0" y="0"/>
                </a:moveTo>
                <a:lnTo>
                  <a:pt x="3123760" y="0"/>
                </a:lnTo>
                <a:lnTo>
                  <a:pt x="3123760" y="5337041"/>
                </a:lnTo>
                <a:lnTo>
                  <a:pt x="0" y="5337041"/>
                </a:lnTo>
                <a:lnTo>
                  <a:pt x="0" y="0"/>
                </a:lnTo>
                <a:close/>
              </a:path>
            </a:pathLst>
          </a:custGeom>
          <a:blipFill>
            <a:blip r:embed="rId3"/>
            <a:stretch>
              <a:fillRect/>
            </a:stretch>
          </a:blipFill>
        </p:spPr>
      </p:sp>
      <p:sp>
        <p:nvSpPr>
          <p:cNvPr id="8" name="Freeform 8"/>
          <p:cNvSpPr/>
          <p:nvPr/>
        </p:nvSpPr>
        <p:spPr>
          <a:xfrm>
            <a:off x="7641872" y="7866708"/>
            <a:ext cx="6100505" cy="2424042"/>
          </a:xfrm>
          <a:custGeom>
            <a:avLst/>
            <a:gdLst/>
            <a:ahLst/>
            <a:cxnLst/>
            <a:rect l="l" t="t" r="r" b="b"/>
            <a:pathLst>
              <a:path w="6100505" h="2424042">
                <a:moveTo>
                  <a:pt x="0" y="0"/>
                </a:moveTo>
                <a:lnTo>
                  <a:pt x="6100505" y="0"/>
                </a:lnTo>
                <a:lnTo>
                  <a:pt x="6100505" y="2424041"/>
                </a:lnTo>
                <a:lnTo>
                  <a:pt x="0" y="2424041"/>
                </a:lnTo>
                <a:lnTo>
                  <a:pt x="0" y="0"/>
                </a:lnTo>
                <a:close/>
              </a:path>
            </a:pathLst>
          </a:custGeom>
          <a:blipFill>
            <a:blip r:embed="rId4"/>
            <a:stretch>
              <a:fillRect/>
            </a:stretch>
          </a:blipFill>
        </p:spPr>
      </p:sp>
      <p:sp>
        <p:nvSpPr>
          <p:cNvPr id="10" name="Freeform 10"/>
          <p:cNvSpPr/>
          <p:nvPr/>
        </p:nvSpPr>
        <p:spPr>
          <a:xfrm>
            <a:off x="14540865" y="3898900"/>
            <a:ext cx="5325110" cy="1969770"/>
          </a:xfrm>
          <a:custGeom>
            <a:avLst/>
            <a:gdLst/>
            <a:ahLst/>
            <a:cxnLst/>
            <a:rect l="l" t="t" r="r" b="b"/>
            <a:pathLst>
              <a:path w="5949487" h="2269271">
                <a:moveTo>
                  <a:pt x="0" y="0"/>
                </a:moveTo>
                <a:lnTo>
                  <a:pt x="5949487" y="0"/>
                </a:lnTo>
                <a:lnTo>
                  <a:pt x="5949487" y="2269271"/>
                </a:lnTo>
                <a:lnTo>
                  <a:pt x="0" y="2269271"/>
                </a:lnTo>
                <a:lnTo>
                  <a:pt x="0" y="0"/>
                </a:lnTo>
                <a:close/>
              </a:path>
            </a:pathLst>
          </a:custGeom>
          <a:blipFill>
            <a:blip r:embed="rId5"/>
            <a:stretch>
              <a:fillRect/>
            </a:stretch>
          </a:blipFill>
        </p:spPr>
        <p:txBody>
          <a:bodyPr/>
          <a:lstStyle/>
          <a:p>
            <a:endParaRPr lang="en-US"/>
          </a:p>
        </p:txBody>
      </p:sp>
      <p:sp>
        <p:nvSpPr>
          <p:cNvPr id="11" name="Freeform 11"/>
          <p:cNvSpPr/>
          <p:nvPr/>
        </p:nvSpPr>
        <p:spPr>
          <a:xfrm>
            <a:off x="0" y="0"/>
            <a:ext cx="21390610" cy="2689860"/>
          </a:xfrm>
          <a:custGeom>
            <a:avLst/>
            <a:gdLst/>
            <a:ahLst/>
            <a:cxnLst/>
            <a:rect l="l" t="t" r="r" b="b"/>
            <a:pathLst>
              <a:path w="21231257" h="2689901">
                <a:moveTo>
                  <a:pt x="0" y="0"/>
                </a:moveTo>
                <a:lnTo>
                  <a:pt x="21231257" y="0"/>
                </a:lnTo>
                <a:lnTo>
                  <a:pt x="21231257" y="2689901"/>
                </a:lnTo>
                <a:lnTo>
                  <a:pt x="0" y="2689901"/>
                </a:lnTo>
                <a:lnTo>
                  <a:pt x="0" y="0"/>
                </a:lnTo>
                <a:close/>
              </a:path>
            </a:pathLst>
          </a:custGeom>
          <a:blipFill>
            <a:blip r:embed="rId6"/>
            <a:stretch>
              <a:fillRect l="-7339" r="-7339" b="-499051"/>
            </a:stretch>
          </a:blipFill>
        </p:spPr>
      </p:sp>
      <p:sp>
        <p:nvSpPr>
          <p:cNvPr id="12" name="Freeform 12"/>
          <p:cNvSpPr/>
          <p:nvPr/>
        </p:nvSpPr>
        <p:spPr>
          <a:xfrm>
            <a:off x="0" y="13608050"/>
            <a:ext cx="21353780" cy="2689860"/>
          </a:xfrm>
          <a:custGeom>
            <a:avLst/>
            <a:gdLst/>
            <a:ahLst/>
            <a:cxnLst/>
            <a:rect l="l" t="t" r="r" b="b"/>
            <a:pathLst>
              <a:path w="22528474" h="2689901">
                <a:moveTo>
                  <a:pt x="0" y="0"/>
                </a:moveTo>
                <a:lnTo>
                  <a:pt x="22528474" y="0"/>
                </a:lnTo>
                <a:lnTo>
                  <a:pt x="22528474" y="2689901"/>
                </a:lnTo>
                <a:lnTo>
                  <a:pt x="0" y="2689901"/>
                </a:lnTo>
                <a:lnTo>
                  <a:pt x="0" y="0"/>
                </a:lnTo>
                <a:close/>
              </a:path>
            </a:pathLst>
          </a:custGeom>
          <a:blipFill>
            <a:blip r:embed="rId6"/>
            <a:stretch>
              <a:fillRect t="-227143" b="-227143"/>
            </a:stretch>
          </a:blipFill>
        </p:spPr>
      </p:sp>
      <p:sp>
        <p:nvSpPr>
          <p:cNvPr id="13" name="Freeform 13"/>
          <p:cNvSpPr/>
          <p:nvPr/>
        </p:nvSpPr>
        <p:spPr>
          <a:xfrm>
            <a:off x="7566363" y="3774045"/>
            <a:ext cx="6154591" cy="3317907"/>
          </a:xfrm>
          <a:custGeom>
            <a:avLst/>
            <a:gdLst/>
            <a:ahLst/>
            <a:cxnLst/>
            <a:rect l="l" t="t" r="r" b="b"/>
            <a:pathLst>
              <a:path w="6154591" h="3317907">
                <a:moveTo>
                  <a:pt x="0" y="0"/>
                </a:moveTo>
                <a:lnTo>
                  <a:pt x="6154591" y="0"/>
                </a:lnTo>
                <a:lnTo>
                  <a:pt x="6154591" y="3317907"/>
                </a:lnTo>
                <a:lnTo>
                  <a:pt x="0" y="3317907"/>
                </a:lnTo>
                <a:lnTo>
                  <a:pt x="0" y="0"/>
                </a:lnTo>
                <a:close/>
              </a:path>
            </a:pathLst>
          </a:custGeom>
          <a:blipFill>
            <a:blip r:embed="rId7"/>
            <a:stretch>
              <a:fillRect/>
            </a:stretch>
          </a:blipFill>
        </p:spPr>
      </p:sp>
      <p:sp>
        <p:nvSpPr>
          <p:cNvPr id="14" name="TextBox 14"/>
          <p:cNvSpPr txBox="1"/>
          <p:nvPr/>
        </p:nvSpPr>
        <p:spPr>
          <a:xfrm>
            <a:off x="14420830" y="11518839"/>
            <a:ext cx="5324805" cy="1669975"/>
          </a:xfrm>
          <a:prstGeom prst="rect">
            <a:avLst/>
          </a:prstGeom>
        </p:spPr>
        <p:txBody>
          <a:bodyPr lIns="0" tIns="0" rIns="0" bIns="0" rtlCol="0" anchor="t">
            <a:spAutoFit/>
          </a:bodyPr>
          <a:lstStyle/>
          <a:p>
            <a:pPr algn="just">
              <a:lnSpc>
                <a:spcPts val="1930"/>
              </a:lnSpc>
            </a:pPr>
            <a:r>
              <a:rPr lang="en-US" sz="1375">
                <a:solidFill>
                  <a:srgbClr val="000000"/>
                </a:solidFill>
                <a:latin typeface="ABeeZee" panose="02000000000000000000"/>
                <a:ea typeface="ABeeZee" panose="02000000000000000000"/>
                <a:cs typeface="ABeeZee" panose="02000000000000000000"/>
                <a:sym typeface="ABeeZee" panose="02000000000000000000"/>
              </a:rPr>
              <a:t>The project shows that an insulin dosage control system can work well using a kind of computer chip called an FPGA. This system takes in information about glucose. Produces insulin output using a specific type of logic. When we tested the system, it worked correctly which means it is an example of how this can be done with hardware.</a:t>
            </a:r>
          </a:p>
          <a:p>
            <a:pPr algn="just">
              <a:lnSpc>
                <a:spcPts val="1930"/>
              </a:lnSpc>
            </a:pPr>
            <a:endParaRPr lang="en-US" sz="1375">
              <a:solidFill>
                <a:srgbClr val="000000"/>
              </a:solidFill>
              <a:latin typeface="ABeeZee" panose="02000000000000000000"/>
              <a:ea typeface="ABeeZee" panose="02000000000000000000"/>
              <a:cs typeface="ABeeZee" panose="02000000000000000000"/>
              <a:sym typeface="ABeeZee" panose="02000000000000000000"/>
            </a:endParaRPr>
          </a:p>
        </p:txBody>
      </p:sp>
      <p:sp>
        <p:nvSpPr>
          <p:cNvPr id="15" name="TextBox 15"/>
          <p:cNvSpPr txBox="1"/>
          <p:nvPr/>
        </p:nvSpPr>
        <p:spPr>
          <a:xfrm>
            <a:off x="14496955" y="10985418"/>
            <a:ext cx="5018516" cy="378812"/>
          </a:xfrm>
          <a:prstGeom prst="rect">
            <a:avLst/>
          </a:prstGeom>
        </p:spPr>
        <p:txBody>
          <a:bodyPr lIns="0" tIns="0" rIns="0" bIns="0" rtlCol="0" anchor="t">
            <a:spAutoFit/>
          </a:bodyPr>
          <a:lstStyle/>
          <a:p>
            <a:pPr algn="ctr">
              <a:lnSpc>
                <a:spcPts val="3085"/>
              </a:lnSpc>
            </a:pPr>
            <a:r>
              <a:rPr lang="en-US" sz="2205">
                <a:solidFill>
                  <a:srgbClr val="4F75A4"/>
                </a:solidFill>
                <a:latin typeface="League Spartan" panose="00000800000000000000"/>
                <a:ea typeface="League Spartan" panose="00000800000000000000"/>
                <a:cs typeface="League Spartan" panose="00000800000000000000"/>
                <a:sym typeface="League Spartan" panose="00000800000000000000"/>
              </a:rPr>
              <a:t>Conclusion</a:t>
            </a:r>
          </a:p>
        </p:txBody>
      </p:sp>
      <p:sp>
        <p:nvSpPr>
          <p:cNvPr id="16" name="TextBox 16"/>
          <p:cNvSpPr txBox="1"/>
          <p:nvPr/>
        </p:nvSpPr>
        <p:spPr>
          <a:xfrm>
            <a:off x="8038742" y="3213776"/>
            <a:ext cx="5018516" cy="378812"/>
          </a:xfrm>
          <a:prstGeom prst="rect">
            <a:avLst/>
          </a:prstGeom>
        </p:spPr>
        <p:txBody>
          <a:bodyPr lIns="0" tIns="0" rIns="0" bIns="0" rtlCol="0" anchor="t">
            <a:spAutoFit/>
          </a:bodyPr>
          <a:lstStyle/>
          <a:p>
            <a:pPr algn="ctr">
              <a:lnSpc>
                <a:spcPts val="3085"/>
              </a:lnSpc>
            </a:pPr>
            <a:r>
              <a:rPr lang="en-US" sz="2205">
                <a:solidFill>
                  <a:srgbClr val="4F75A4"/>
                </a:solidFill>
                <a:latin typeface="League Spartan" panose="00000800000000000000"/>
                <a:ea typeface="League Spartan" panose="00000800000000000000"/>
                <a:cs typeface="League Spartan" panose="00000800000000000000"/>
                <a:sym typeface="League Spartan" panose="00000800000000000000"/>
              </a:rPr>
              <a:t>Software Used</a:t>
            </a:r>
          </a:p>
        </p:txBody>
      </p:sp>
      <p:sp>
        <p:nvSpPr>
          <p:cNvPr id="17" name="TextBox 17"/>
          <p:cNvSpPr txBox="1"/>
          <p:nvPr/>
        </p:nvSpPr>
        <p:spPr>
          <a:xfrm>
            <a:off x="14497030" y="8919976"/>
            <a:ext cx="5324805" cy="1684442"/>
          </a:xfrm>
          <a:prstGeom prst="rect">
            <a:avLst/>
          </a:prstGeom>
        </p:spPr>
        <p:txBody>
          <a:bodyPr lIns="0" tIns="0" rIns="0" bIns="0" rtlCol="0" anchor="t">
            <a:spAutoFit/>
          </a:bodyPr>
          <a:lstStyle/>
          <a:p>
            <a:pPr algn="just">
              <a:lnSpc>
                <a:spcPts val="1945"/>
              </a:lnSpc>
            </a:pPr>
            <a:r>
              <a:rPr lang="en-US" sz="1390">
                <a:solidFill>
                  <a:srgbClr val="000000"/>
                </a:solidFill>
                <a:latin typeface="ABeeZee" panose="02000000000000000000"/>
                <a:ea typeface="ABeeZee" panose="02000000000000000000"/>
                <a:cs typeface="ABeeZee" panose="02000000000000000000"/>
                <a:sym typeface="ABeeZee" panose="02000000000000000000"/>
              </a:rPr>
              <a:t>The Nexys A7 FPGA board used for implementing the insulin dosage computation system. The computed insulin value is displayed using the on-board seven-segment display and LEDs. Since the FPGA design operates using integer representation, the displayed value “63” corresponds to 6.3 IU of insulin. This confirms the successful hardware realization and output visualization of the system.</a:t>
            </a:r>
          </a:p>
        </p:txBody>
      </p:sp>
      <p:sp>
        <p:nvSpPr>
          <p:cNvPr id="18" name="TextBox 18"/>
          <p:cNvSpPr txBox="1"/>
          <p:nvPr/>
        </p:nvSpPr>
        <p:spPr>
          <a:xfrm>
            <a:off x="8134401" y="7225302"/>
            <a:ext cx="5018516" cy="378812"/>
          </a:xfrm>
          <a:prstGeom prst="rect">
            <a:avLst/>
          </a:prstGeom>
        </p:spPr>
        <p:txBody>
          <a:bodyPr lIns="0" tIns="0" rIns="0" bIns="0" rtlCol="0" anchor="t">
            <a:spAutoFit/>
          </a:bodyPr>
          <a:lstStyle/>
          <a:p>
            <a:pPr algn="ctr">
              <a:lnSpc>
                <a:spcPts val="3085"/>
              </a:lnSpc>
            </a:pPr>
            <a:r>
              <a:rPr lang="en-US" sz="2205">
                <a:solidFill>
                  <a:srgbClr val="4F75A4"/>
                </a:solidFill>
                <a:latin typeface="League Spartan" panose="00000800000000000000"/>
                <a:ea typeface="League Spartan" panose="00000800000000000000"/>
                <a:cs typeface="League Spartan" panose="00000800000000000000"/>
                <a:sym typeface="League Spartan" panose="00000800000000000000"/>
              </a:rPr>
              <a:t>Results</a:t>
            </a:r>
          </a:p>
        </p:txBody>
      </p:sp>
      <p:sp>
        <p:nvSpPr>
          <p:cNvPr id="19" name="TextBox 19"/>
          <p:cNvSpPr txBox="1"/>
          <p:nvPr/>
        </p:nvSpPr>
        <p:spPr>
          <a:xfrm>
            <a:off x="1756520" y="5868868"/>
            <a:ext cx="5040000" cy="378812"/>
          </a:xfrm>
          <a:prstGeom prst="rect">
            <a:avLst/>
          </a:prstGeom>
        </p:spPr>
        <p:txBody>
          <a:bodyPr lIns="0" tIns="0" rIns="0" bIns="0" rtlCol="0" anchor="t">
            <a:spAutoFit/>
          </a:bodyPr>
          <a:lstStyle/>
          <a:p>
            <a:pPr algn="ctr">
              <a:lnSpc>
                <a:spcPts val="3085"/>
              </a:lnSpc>
            </a:pPr>
            <a:r>
              <a:rPr lang="en-US" sz="2205">
                <a:solidFill>
                  <a:srgbClr val="4F75A4"/>
                </a:solidFill>
                <a:latin typeface="League Spartan" panose="00000800000000000000"/>
                <a:ea typeface="League Spartan" panose="00000800000000000000"/>
                <a:cs typeface="League Spartan" panose="00000800000000000000"/>
                <a:sym typeface="League Spartan" panose="00000800000000000000"/>
              </a:rPr>
              <a:t>Methodology</a:t>
            </a:r>
          </a:p>
        </p:txBody>
      </p:sp>
      <p:sp>
        <p:nvSpPr>
          <p:cNvPr id="20" name="TextBox 20"/>
          <p:cNvSpPr txBox="1"/>
          <p:nvPr/>
        </p:nvSpPr>
        <p:spPr>
          <a:xfrm>
            <a:off x="1512000" y="6352456"/>
            <a:ext cx="5284520" cy="1193725"/>
          </a:xfrm>
          <a:prstGeom prst="rect">
            <a:avLst/>
          </a:prstGeom>
        </p:spPr>
        <p:txBody>
          <a:bodyPr lIns="0" tIns="0" rIns="0" bIns="0" rtlCol="0" anchor="t">
            <a:spAutoFit/>
          </a:bodyPr>
          <a:lstStyle/>
          <a:p>
            <a:pPr algn="just">
              <a:lnSpc>
                <a:spcPts val="1930"/>
              </a:lnSpc>
            </a:pPr>
            <a:r>
              <a:rPr lang="en-US" sz="1375">
                <a:solidFill>
                  <a:srgbClr val="000000"/>
                </a:solidFill>
                <a:latin typeface="ABeeZee" panose="02000000000000000000"/>
                <a:ea typeface="ABeeZee" panose="02000000000000000000"/>
                <a:cs typeface="ABeeZee" panose="02000000000000000000"/>
                <a:sym typeface="ABeeZee" panose="02000000000000000000"/>
              </a:rPr>
              <a:t>It shows the flow of input parameters such as glucose levels and patient data into the FPGA module, where different units like PLL, FSM, insulin calculation module, and memory perform processing. The final output is the calculated insulin dosage.</a:t>
            </a:r>
          </a:p>
          <a:p>
            <a:pPr algn="just">
              <a:lnSpc>
                <a:spcPts val="1930"/>
              </a:lnSpc>
            </a:pPr>
            <a:endParaRPr lang="en-US" sz="1375">
              <a:solidFill>
                <a:srgbClr val="000000"/>
              </a:solidFill>
              <a:latin typeface="ABeeZee" panose="02000000000000000000"/>
              <a:ea typeface="ABeeZee" panose="02000000000000000000"/>
              <a:cs typeface="ABeeZee" panose="02000000000000000000"/>
              <a:sym typeface="ABeeZee" panose="02000000000000000000"/>
            </a:endParaRPr>
          </a:p>
        </p:txBody>
      </p:sp>
      <p:sp>
        <p:nvSpPr>
          <p:cNvPr id="21" name="TextBox 21"/>
          <p:cNvSpPr txBox="1"/>
          <p:nvPr/>
        </p:nvSpPr>
        <p:spPr>
          <a:xfrm>
            <a:off x="1512000" y="3603822"/>
            <a:ext cx="5234668" cy="2146225"/>
          </a:xfrm>
          <a:prstGeom prst="rect">
            <a:avLst/>
          </a:prstGeom>
        </p:spPr>
        <p:txBody>
          <a:bodyPr lIns="0" tIns="0" rIns="0" bIns="0" rtlCol="0" anchor="t">
            <a:spAutoFit/>
          </a:bodyPr>
          <a:lstStyle/>
          <a:p>
            <a:pPr algn="just">
              <a:lnSpc>
                <a:spcPts val="1930"/>
              </a:lnSpc>
            </a:pPr>
            <a:r>
              <a:rPr lang="en-US" sz="1375">
                <a:solidFill>
                  <a:srgbClr val="000000"/>
                </a:solidFill>
                <a:latin typeface="ABeeZee" panose="02000000000000000000"/>
                <a:ea typeface="ABeeZee" panose="02000000000000000000"/>
                <a:cs typeface="ABeeZee" panose="02000000000000000000"/>
                <a:sym typeface="ABeeZee" panose="02000000000000000000"/>
              </a:rPr>
              <a:t>Diabetes is a chronic disease which involves constant check on the amount of glucose in the blood. This means that the correct amount of insulin should be given to sustain normal body functions. Administration of insulin in wrong ways can cause crucial health conditions. Hence, proper estimation of insulin is of paramount importance to treat diabetes properly. In the presented project, an insulin control system is offered automatized with the assistance of FPGA.</a:t>
            </a:r>
          </a:p>
          <a:p>
            <a:pPr algn="just">
              <a:lnSpc>
                <a:spcPts val="1930"/>
              </a:lnSpc>
            </a:pPr>
            <a:endParaRPr lang="en-US" sz="1375">
              <a:solidFill>
                <a:srgbClr val="000000"/>
              </a:solidFill>
              <a:latin typeface="ABeeZee" panose="02000000000000000000"/>
              <a:ea typeface="ABeeZee" panose="02000000000000000000"/>
              <a:cs typeface="ABeeZee" panose="02000000000000000000"/>
              <a:sym typeface="ABeeZee" panose="02000000000000000000"/>
            </a:endParaRPr>
          </a:p>
        </p:txBody>
      </p:sp>
      <p:sp>
        <p:nvSpPr>
          <p:cNvPr id="22" name="TextBox 22"/>
          <p:cNvSpPr txBox="1"/>
          <p:nvPr/>
        </p:nvSpPr>
        <p:spPr>
          <a:xfrm>
            <a:off x="1756520" y="3213776"/>
            <a:ext cx="5040000" cy="378812"/>
          </a:xfrm>
          <a:prstGeom prst="rect">
            <a:avLst/>
          </a:prstGeom>
        </p:spPr>
        <p:txBody>
          <a:bodyPr lIns="0" tIns="0" rIns="0" bIns="0" rtlCol="0" anchor="t">
            <a:spAutoFit/>
          </a:bodyPr>
          <a:lstStyle/>
          <a:p>
            <a:pPr algn="ctr">
              <a:lnSpc>
                <a:spcPts val="3085"/>
              </a:lnSpc>
            </a:pPr>
            <a:r>
              <a:rPr lang="en-US" sz="2205">
                <a:solidFill>
                  <a:srgbClr val="4F75A4"/>
                </a:solidFill>
                <a:latin typeface="League Spartan" panose="00000800000000000000"/>
                <a:ea typeface="League Spartan" panose="00000800000000000000"/>
                <a:cs typeface="League Spartan" panose="00000800000000000000"/>
                <a:sym typeface="League Spartan" panose="00000800000000000000"/>
              </a:rPr>
              <a:t>Introduction</a:t>
            </a:r>
          </a:p>
        </p:txBody>
      </p:sp>
      <p:sp>
        <p:nvSpPr>
          <p:cNvPr id="23" name="TextBox 23"/>
          <p:cNvSpPr txBox="1"/>
          <p:nvPr/>
        </p:nvSpPr>
        <p:spPr>
          <a:xfrm>
            <a:off x="1224000" y="515327"/>
            <a:ext cx="18648000" cy="1907874"/>
          </a:xfrm>
          <a:prstGeom prst="rect">
            <a:avLst/>
          </a:prstGeom>
        </p:spPr>
        <p:txBody>
          <a:bodyPr lIns="0" tIns="0" rIns="0" bIns="0" rtlCol="0" anchor="t">
            <a:spAutoFit/>
          </a:bodyPr>
          <a:lstStyle/>
          <a:p>
            <a:pPr algn="ctr">
              <a:lnSpc>
                <a:spcPts val="7715"/>
              </a:lnSpc>
            </a:pPr>
            <a:r>
              <a:rPr lang="en-US" sz="5510">
                <a:solidFill>
                  <a:srgbClr val="FFFFFF"/>
                </a:solidFill>
                <a:latin typeface="League Spartan" panose="00000800000000000000"/>
                <a:ea typeface="League Spartan" panose="00000800000000000000"/>
                <a:cs typeface="League Spartan" panose="00000800000000000000"/>
                <a:sym typeface="League Spartan" panose="00000800000000000000"/>
              </a:rPr>
              <a:t>FPGA - BASED INSULIN DOSAGE COMPUTATION SYSTEM FOR DIABETES MANAGEMENT</a:t>
            </a:r>
          </a:p>
        </p:txBody>
      </p:sp>
      <p:sp>
        <p:nvSpPr>
          <p:cNvPr id="24" name="TextBox 24"/>
          <p:cNvSpPr txBox="1"/>
          <p:nvPr/>
        </p:nvSpPr>
        <p:spPr>
          <a:xfrm>
            <a:off x="14547195" y="3213776"/>
            <a:ext cx="5018516" cy="378812"/>
          </a:xfrm>
          <a:prstGeom prst="rect">
            <a:avLst/>
          </a:prstGeom>
        </p:spPr>
        <p:txBody>
          <a:bodyPr lIns="0" tIns="0" rIns="0" bIns="0" rtlCol="0" anchor="t">
            <a:spAutoFit/>
          </a:bodyPr>
          <a:lstStyle/>
          <a:p>
            <a:pPr algn="ctr">
              <a:lnSpc>
                <a:spcPts val="3085"/>
              </a:lnSpc>
            </a:pPr>
            <a:r>
              <a:rPr lang="en-US" sz="2205">
                <a:solidFill>
                  <a:srgbClr val="4F75A4"/>
                </a:solidFill>
                <a:latin typeface="League Spartan" panose="00000800000000000000"/>
                <a:ea typeface="League Spartan" panose="00000800000000000000"/>
                <a:cs typeface="League Spartan" panose="00000800000000000000"/>
                <a:sym typeface="League Spartan" panose="00000800000000000000"/>
              </a:rPr>
              <a:t>Results</a:t>
            </a:r>
          </a:p>
        </p:txBody>
      </p:sp>
      <p:sp>
        <p:nvSpPr>
          <p:cNvPr id="25" name="TextBox 25"/>
          <p:cNvSpPr txBox="1"/>
          <p:nvPr/>
        </p:nvSpPr>
        <p:spPr>
          <a:xfrm>
            <a:off x="1224000" y="14642103"/>
            <a:ext cx="9938696" cy="387350"/>
          </a:xfrm>
          <a:prstGeom prst="rect">
            <a:avLst/>
          </a:prstGeom>
        </p:spPr>
        <p:txBody>
          <a:bodyPr lIns="0" tIns="0" rIns="0" bIns="0" rtlCol="0" anchor="t">
            <a:spAutoFit/>
          </a:bodyPr>
          <a:lstStyle/>
          <a:p>
            <a:pPr algn="ctr">
              <a:lnSpc>
                <a:spcPts val="3025"/>
              </a:lnSpc>
              <a:spcBef>
                <a:spcPct val="0"/>
              </a:spcBef>
            </a:pPr>
            <a:r>
              <a:rPr lang="en-US" sz="2160" dirty="0">
                <a:solidFill>
                  <a:srgbClr val="FFFFFF"/>
                </a:solidFill>
                <a:latin typeface="League Spartan" panose="00000800000000000000"/>
                <a:ea typeface="League Spartan" panose="00000800000000000000"/>
                <a:cs typeface="League Spartan" panose="00000800000000000000"/>
                <a:sym typeface="League Spartan" panose="00000800000000000000"/>
              </a:rPr>
              <a:t>Affiliate:  K. Naga Teja Sri, M. Twinkle Durga, S. Vaishnavi</a:t>
            </a:r>
          </a:p>
        </p:txBody>
      </p:sp>
      <p:sp>
        <p:nvSpPr>
          <p:cNvPr id="26" name="TextBox 26"/>
          <p:cNvSpPr txBox="1"/>
          <p:nvPr/>
        </p:nvSpPr>
        <p:spPr>
          <a:xfrm>
            <a:off x="16134737" y="14227626"/>
            <a:ext cx="3762729" cy="1163320"/>
          </a:xfrm>
          <a:prstGeom prst="rect">
            <a:avLst/>
          </a:prstGeom>
        </p:spPr>
        <p:txBody>
          <a:bodyPr lIns="0" tIns="0" rIns="0" bIns="0" rtlCol="0" anchor="t">
            <a:spAutoFit/>
          </a:bodyPr>
          <a:lstStyle/>
          <a:p>
            <a:pPr algn="ctr">
              <a:lnSpc>
                <a:spcPts val="3025"/>
              </a:lnSpc>
            </a:pPr>
            <a:r>
              <a:rPr lang="en-US" sz="2160" dirty="0">
                <a:solidFill>
                  <a:srgbClr val="FFFFFF"/>
                </a:solidFill>
                <a:latin typeface="League Spartan" panose="00000800000000000000"/>
                <a:ea typeface="League Spartan" panose="00000800000000000000"/>
                <a:cs typeface="League Spartan" panose="00000800000000000000"/>
                <a:sym typeface="League Spartan" panose="00000800000000000000"/>
              </a:rPr>
              <a:t>Under the Guidance</a:t>
            </a:r>
          </a:p>
          <a:p>
            <a:pPr algn="ctr">
              <a:lnSpc>
                <a:spcPts val="3025"/>
              </a:lnSpc>
            </a:pPr>
            <a:r>
              <a:rPr lang="en-US" sz="2160" dirty="0">
                <a:solidFill>
                  <a:srgbClr val="FFFFFF"/>
                </a:solidFill>
                <a:latin typeface="League Spartan" panose="00000800000000000000"/>
                <a:ea typeface="League Spartan" panose="00000800000000000000"/>
                <a:cs typeface="League Spartan" panose="00000800000000000000"/>
                <a:sym typeface="League Spartan" panose="00000800000000000000"/>
              </a:rPr>
              <a:t>Ms. P. Roopa Ranjani</a:t>
            </a:r>
          </a:p>
          <a:p>
            <a:pPr algn="ctr">
              <a:lnSpc>
                <a:spcPts val="3025"/>
              </a:lnSpc>
              <a:spcBef>
                <a:spcPct val="0"/>
              </a:spcBef>
            </a:pPr>
            <a:r>
              <a:rPr lang="en-US" sz="2160" dirty="0">
                <a:solidFill>
                  <a:srgbClr val="FFFFFF"/>
                </a:solidFill>
                <a:latin typeface="League Spartan" panose="00000800000000000000"/>
                <a:ea typeface="League Spartan" panose="00000800000000000000"/>
                <a:cs typeface="League Spartan" panose="00000800000000000000"/>
                <a:sym typeface="League Spartan" panose="00000800000000000000"/>
              </a:rPr>
              <a:t>Asst. Prof.</a:t>
            </a:r>
          </a:p>
        </p:txBody>
      </p:sp>
      <p:pic>
        <p:nvPicPr>
          <p:cNvPr id="27" name="Picture 26"/>
          <p:cNvPicPr>
            <a:picLocks noChangeAspect="1"/>
          </p:cNvPicPr>
          <p:nvPr/>
        </p:nvPicPr>
        <p:blipFill>
          <a:blip r:embed="rId8"/>
          <a:stretch>
            <a:fillRect/>
          </a:stretch>
        </p:blipFill>
        <p:spPr>
          <a:xfrm rot="16200000">
            <a:off x="15748000" y="4753610"/>
            <a:ext cx="2910840" cy="5173980"/>
          </a:xfrm>
          <a:prstGeom prst="rect">
            <a:avLst/>
          </a:prstGeom>
        </p:spPr>
      </p:pic>
      <p:pic>
        <p:nvPicPr>
          <p:cNvPr id="9" name="Picture 8">
            <a:extLst>
              <a:ext uri="{FF2B5EF4-FFF2-40B4-BE49-F238E27FC236}">
                <a16:creationId xmlns:a16="http://schemas.microsoft.com/office/drawing/2014/main" id="{B960E243-C172-020D-0986-16AFECE8CE77}"/>
              </a:ext>
            </a:extLst>
          </p:cNvPr>
          <p:cNvPicPr>
            <a:picLocks noChangeAspect="1"/>
          </p:cNvPicPr>
          <p:nvPr/>
        </p:nvPicPr>
        <p:blipFill>
          <a:blip r:embed="rId9" cstate="print">
            <a:extLst>
              <a:ext uri="{28A0092B-C50C-407E-A947-70E740481C1C}">
                <a14:useLocalDpi xmlns:a14="http://schemas.microsoft.com/office/drawing/2010/main" val="0"/>
              </a:ext>
            </a:extLst>
          </a:blip>
          <a:srcRect r="7632" b="9302"/>
          <a:stretch>
            <a:fillRect/>
          </a:stretch>
        </p:blipFill>
        <p:spPr>
          <a:xfrm>
            <a:off x="7715364" y="10187507"/>
            <a:ext cx="5953521" cy="302459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298</Words>
  <Application>Microsoft Office PowerPoint</Application>
  <PresentationFormat>Custom</PresentationFormat>
  <Paragraphs>15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ABeeZee</vt:lpstr>
      <vt:lpstr>League Spartan</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slide PPT</dc:title>
  <dc:creator>Kuntumalla Naga Teja Sri</dc:creator>
  <cp:lastModifiedBy>Kuntumalla Naga Teja Sri</cp:lastModifiedBy>
  <cp:revision>5</cp:revision>
  <dcterms:created xsi:type="dcterms:W3CDTF">2006-08-16T00:00:00Z</dcterms:created>
  <dcterms:modified xsi:type="dcterms:W3CDTF">2026-04-15T05:06:01Z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1033-12.1.0.25830</vt:lpwstr>
  </property>
  <property fmtid="{D5CDD505-2E9C-101B-9397-08002B2CF9AE}" pid="3" name="ICV">
    <vt:lpwstr>8AFC0D43B25046F2A69F2FC7CB39DD54_12</vt:lpwstr>
  </property>
</Properties>
</file>